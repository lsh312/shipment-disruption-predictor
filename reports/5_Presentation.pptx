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MYm0ESH4SlGYyAdlRgI8cgQrI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A9F792-8CC3-4AD4-A485-F87020DD6DA9}">
  <a:tblStyle styleId="{D2A9F792-8CC3-4AD4-A485-F87020DD6D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57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7" name="Google Shape;3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MACHINE LEARNING II — MBDS 2026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5029200" y="2880360"/>
            <a:ext cx="210312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828800" y="320040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Binary classification on 5,000 global shipments — identifying risk factors before goods leave the dock.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188720" y="4937760"/>
            <a:ext cx="3200400" cy="25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25880" y="50292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325880" y="528523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4709160" y="4937760"/>
            <a:ext cx="3200400" cy="25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846320" y="50292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846320" y="528523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Supply Chain Risk 2026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8229600" y="4937760"/>
            <a:ext cx="3200400" cy="25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366760" y="50292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366760" y="528523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Classifiers + Hyperparameter Tuning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68680" y="1371600"/>
            <a:ext cx="32918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68680" y="1508760"/>
            <a:ext cx="635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097280" y="16002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97280" y="21488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Problem &amp; Context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4572000" y="1371600"/>
            <a:ext cx="32918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4572000" y="1508760"/>
            <a:ext cx="635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800600" y="16002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4800600" y="21488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8275320" y="1371600"/>
            <a:ext cx="32918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275320" y="1508760"/>
            <a:ext cx="635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503920" y="16002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8503920" y="21488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868680" y="3108960"/>
            <a:ext cx="32918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868680" y="3246120"/>
            <a:ext cx="635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097280" y="33375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097280" y="3886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4572000" y="3108960"/>
            <a:ext cx="32918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572000" y="3246120"/>
            <a:ext cx="635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4800600" y="33375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4800600" y="3886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Modeling &amp; Tuning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8275320" y="3108960"/>
            <a:ext cx="32918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275320" y="3246120"/>
            <a:ext cx="6350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8503920" y="333756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8503920" y="3886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Results &amp; Insights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Problem Statement &amp; Business Context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795528" y="1280160"/>
            <a:ext cx="50749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932688" y="13533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932688" y="1627632"/>
            <a:ext cx="4800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Supply chain disruptions cost billions annually.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Global complexity, weather events, and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geopolitical instability make prediction critical.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6327648" y="1280160"/>
            <a:ext cx="50749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464808" y="13533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Our Objective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6464808" y="1627632"/>
            <a:ext cx="4800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Build a binary classification model to predict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Disruption_Occurred = 1 before shipments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depart, enabling proactive risk management.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795528" y="3794760"/>
            <a:ext cx="50749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932688" y="38679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932688" y="4142232"/>
            <a:ext cx="4800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Flag high-risk shipments early, optimise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carrier selection, enable weather-based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rerouting, and reduce operational costs.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6327648" y="3794760"/>
            <a:ext cx="50749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6464808" y="38679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6464808" y="4142232"/>
            <a:ext cx="4800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Train 6 classifiers, handle class imbalance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with SMOTE, tune hyperparameters via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Grid</a:t>
            </a:r>
            <a:r>
              <a:rPr lang="en-US" sz="14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SearchCV, interpret with SHAP.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Global Supply Chain Risk Dataset 2026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7955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955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886968" y="137160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5,000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886968" y="169164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SHIPMENTS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35387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5387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3630168" y="137160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3630168" y="169164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62819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2819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373368" y="137160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61.3%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6373368" y="169164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DISRUPTION RATE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90251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90251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9116568" y="137160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9116568" y="169164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95528" y="2331720"/>
            <a:ext cx="2423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932688" y="24048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Numerical Features (6)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932688" y="2679192"/>
            <a:ext cx="21488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Distance_km, Weight_MT,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Fuel_Price_Index, Geopolitical_Risk_Score,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Carrier_Reliability_Score, Lead_Time_Days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3538728" y="2331720"/>
            <a:ext cx="2423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3675888" y="24048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Categorical Features (5)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3675888" y="2679192"/>
            <a:ext cx="21488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Origin_Port (8), Destination_Port (9),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Transport_Mode (4), Product_Category (5),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Weather_Condition (5)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281928" y="2331720"/>
            <a:ext cx="2423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419088" y="24048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Target Variable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6419088" y="2679192"/>
            <a:ext cx="21488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Disruption_Occurred — binary (0/1).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Moderate class imbalance (61.3/38.7)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addressed with SMOTE oversampling.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9025128" y="2331720"/>
            <a:ext cx="2423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9162288" y="24048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Key Statistics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9162288" y="2679192"/>
            <a:ext cx="21488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Mean distance 7,704 km.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Lead time range 0.5–236 days (right-skewed).</a:t>
            </a:r>
            <a:endParaRPr/>
          </a:p>
          <a:p>
            <a:pPr marL="0" marR="0" lvl="0" indent="0" algn="l" rtl="0">
              <a:lnSpc>
                <a:spcPct val="12495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Carrier reliability 0.50–1.00.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Key insights from data exploration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868680" y="1280160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005840" y="13533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Weather is Dominant Factor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1005840" y="1627632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Hurricanes and Storms show significantly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higher disruption rates than other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weather conditions.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4572000" y="1280160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4709160" y="13533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Class Balance: 61.3% / 38.7%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4709160" y="1627632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Moderate imbalance addressed with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SMOTE oversampling on the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training set only.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8275320" y="1280160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8412480" y="13533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Transport Mode Matters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8412480" y="1627632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Rail and Sea modes show higher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disruption rates than Air due to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longer transit windows.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68680" y="3035808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100584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Geopolitical × Carrier Reliability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1005840" y="3383280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Multiplicative interaction effect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between geopolitical risk and low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carrier reliability scores.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4572000" y="3035808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470916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Lead Time is Right-Skewed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4709160" y="3383280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Maximum 236 days vs median 8.2 days.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Engineered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features help model performance.</a:t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8275320" y="3035808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No Strong Multicollinearity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8412480" y="3383280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Max |r| &lt; 0.3 among features.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Distance_per_Day is more informative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than raw Distance_km.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Custom features that boosted predictive power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795528" y="128016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32688" y="13533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Distance per Day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932688" y="162763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Distance_km / (Lead_Time_Days + 1)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Captures transit speed urgency.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Became the #1 predictor overall.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795528" y="292608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932688" y="299923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Risk-Carrier Interaction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932688" y="32735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Geopolitical_Risk × (1 - Carrier_Reliability)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Compounds geopolitical risk with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unreliable carriers.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795528" y="457200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932688" y="464515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Heavy Cargo Flag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932688" y="491947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Weight_MT &gt; median threshold.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Proxy for handling complexity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and logistical challenges.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309360" y="128016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6446520" y="13533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Date Features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6446520" y="162763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Month and Quarter extracted from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shipment dates to capture seasonal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disruption patterns.</a:t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6309360" y="292608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6446520" y="299923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Encoding Strategy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6446520" y="327355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One Hot 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Encoding applied to all categorical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variables for tree-based and linear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model compatibility.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6309360" y="457200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6446520" y="464515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6446520" y="4919472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Engineered features </a:t>
            </a: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constitute 7 out of 10 most i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mportan</a:t>
            </a: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 features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, validating the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feature engineering approach.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&amp; Validation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Rigorous experimental design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868680" y="1280160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1005840" y="13533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1005840" y="1627632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80/20 stratified split.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4,000 training samples.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1,000 test samples.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572000" y="1280160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4709160" y="13533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4709160" y="1627632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SMOTE applied to training set only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(4,000 → 4,900 samples).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Prevents data leakage.</a:t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8275320" y="1280160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8412480" y="13533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Feature Scaling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8412480" y="1627632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StandardScaler for Logistic Regression,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KNN, and Naive Bayes.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Tree models left unscaled.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868680" y="3035808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100584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Cross-Validation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1005840" y="3383280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5-Fold Stratified CV with</a:t>
            </a: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recall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scoring metric. Reliable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generalisation estimate.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4572000" y="3035808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470916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4709160" y="3383280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GridSearchCV </a:t>
            </a: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Best params selected by </a:t>
            </a: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8275320" y="3035808"/>
            <a:ext cx="329184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Six Classifiers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8412480" y="3383280"/>
            <a:ext cx="3017520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Logistic Regression, Decision Tree,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Random Forest, Gradient Boosting,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KNN, Naïve Bayes.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dirty="0"/>
          </a:p>
        </p:txBody>
      </p:sp>
      <p:sp>
        <p:nvSpPr>
          <p:cNvPr id="286" name="Google Shape;286;p8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Performance across six classifiers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290" name="Google Shape;290;p8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C691B1-9FDD-C089-8B1A-F38795FB5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234487"/>
              </p:ext>
            </p:extLst>
          </p:nvPr>
        </p:nvGraphicFramePr>
        <p:xfrm>
          <a:off x="558802" y="2525530"/>
          <a:ext cx="10782968" cy="3207330"/>
        </p:xfrm>
        <a:graphic>
          <a:graphicData uri="http://schemas.openxmlformats.org/drawingml/2006/table">
            <a:tbl>
              <a:tblPr/>
              <a:tblGrid>
                <a:gridCol w="1540424">
                  <a:extLst>
                    <a:ext uri="{9D8B030D-6E8A-4147-A177-3AD203B41FA5}">
                      <a16:colId xmlns:a16="http://schemas.microsoft.com/office/drawing/2014/main" val="3717227951"/>
                    </a:ext>
                  </a:extLst>
                </a:gridCol>
                <a:gridCol w="1540424">
                  <a:extLst>
                    <a:ext uri="{9D8B030D-6E8A-4147-A177-3AD203B41FA5}">
                      <a16:colId xmlns:a16="http://schemas.microsoft.com/office/drawing/2014/main" val="2617496890"/>
                    </a:ext>
                  </a:extLst>
                </a:gridCol>
                <a:gridCol w="1540424">
                  <a:extLst>
                    <a:ext uri="{9D8B030D-6E8A-4147-A177-3AD203B41FA5}">
                      <a16:colId xmlns:a16="http://schemas.microsoft.com/office/drawing/2014/main" val="951707198"/>
                    </a:ext>
                  </a:extLst>
                </a:gridCol>
                <a:gridCol w="1540424">
                  <a:extLst>
                    <a:ext uri="{9D8B030D-6E8A-4147-A177-3AD203B41FA5}">
                      <a16:colId xmlns:a16="http://schemas.microsoft.com/office/drawing/2014/main" val="320570231"/>
                    </a:ext>
                  </a:extLst>
                </a:gridCol>
                <a:gridCol w="1540424">
                  <a:extLst>
                    <a:ext uri="{9D8B030D-6E8A-4147-A177-3AD203B41FA5}">
                      <a16:colId xmlns:a16="http://schemas.microsoft.com/office/drawing/2014/main" val="1120811397"/>
                    </a:ext>
                  </a:extLst>
                </a:gridCol>
                <a:gridCol w="1540424">
                  <a:extLst>
                    <a:ext uri="{9D8B030D-6E8A-4147-A177-3AD203B41FA5}">
                      <a16:colId xmlns:a16="http://schemas.microsoft.com/office/drawing/2014/main" val="2682639536"/>
                    </a:ext>
                  </a:extLst>
                </a:gridCol>
                <a:gridCol w="1540424">
                  <a:extLst>
                    <a:ext uri="{9D8B030D-6E8A-4147-A177-3AD203B41FA5}">
                      <a16:colId xmlns:a16="http://schemas.microsoft.com/office/drawing/2014/main" val="3115230575"/>
                    </a:ext>
                  </a:extLst>
                </a:gridCol>
              </a:tblGrid>
              <a:tr h="4581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Model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Recall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ROC-AUC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CV AUC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F1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Precision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Accuracy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350151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Logistic Regression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B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0.770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B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0.818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B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0.878±0.009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B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0.785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B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0.774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B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0.741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51197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Decision Tree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0.715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0.797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0.831±0.014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0.756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0.818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0.718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991238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Random Forest 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0.682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0.824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0.865±0.008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0.756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0.829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0.730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021403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Gradient Boosting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0.742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0.804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0.867±0.011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0.794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0.721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228134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KNN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0.666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0.721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0.814±0.009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0.705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0.733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0.658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440658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Naive Bayes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0.362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0.799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0.844±0.010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0.529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0.824</a:t>
                      </a:r>
                      <a:endParaRPr lang="en-CA" sz="130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0.604</a:t>
                      </a:r>
                      <a:endParaRPr lang="en-CA" sz="1300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64872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C85C672-3939-1AC3-831C-6239D3535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24553" y="2695059"/>
            <a:ext cx="273853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175B0-72E5-0ADC-A478-FCE9EEEAE5CE}"/>
              </a:ext>
            </a:extLst>
          </p:cNvPr>
          <p:cNvSpPr txBox="1"/>
          <p:nvPr/>
        </p:nvSpPr>
        <p:spPr>
          <a:xfrm>
            <a:off x="558802" y="1349888"/>
            <a:ext cx="10782968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0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worst-case scenario is to falsely predict that there will be no disruptions. </a:t>
            </a:r>
            <a:endParaRPr lang="en-US" sz="1600" dirty="0">
              <a:latin typeface="Calibri" panose="020F0502020204030204" pitchFamily="34" charset="0"/>
            </a:endParaRPr>
          </a:p>
          <a:p>
            <a:pPr rtl="0">
              <a:spcAft>
                <a:spcPts val="1000"/>
              </a:spcAft>
              <a:buNone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-&gt; Recall and ROC-AUC metrics will be used to select the final model.</a:t>
            </a:r>
            <a:br>
              <a:rPr lang="en-US" sz="1600" dirty="0"/>
            </a:br>
            <a:endParaRPr lang="en-CA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Best Model — Logistic Regression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Highest recall with strong generalisation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7955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955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886968" y="1371600"/>
            <a:ext cx="224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r>
              <a:rPr lang="en-US" sz="2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886968" y="169164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5387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5387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3630168" y="1371600"/>
            <a:ext cx="224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2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3630168" y="1691640"/>
            <a:ext cx="2240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62819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2819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6373368" y="1371600"/>
            <a:ext cx="224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lang="en-US" sz="2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6373368" y="169164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9025128" y="1234440"/>
            <a:ext cx="24231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9025128" y="1234440"/>
            <a:ext cx="242316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9116568" y="137160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±0.009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9116568" y="169164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CV STABILITY</a:t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95528" y="2286000"/>
            <a:ext cx="5074920" cy="3749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932688" y="235915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Why Logistic Regression?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932688" y="2633472"/>
            <a:ext cx="4800600" cy="316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Highest Recall (0.770) on test set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• Second Highest ROC-AUC (0.818) on test set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sz="1300"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Second lowest CV variance (±0.009)</a:t>
            </a: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00"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Interpretable: signed coefficients + SHAP</a:t>
            </a: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00"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Fast to train, scales well to new data</a:t>
            </a:r>
            <a:endParaRPr sz="1300" dirty="0"/>
          </a:p>
        </p:txBody>
      </p:sp>
      <p:sp>
        <p:nvSpPr>
          <p:cNvPr id="325" name="Google Shape;325;p9"/>
          <p:cNvSpPr/>
          <p:nvPr/>
        </p:nvSpPr>
        <p:spPr>
          <a:xfrm>
            <a:off x="6309360" y="2308860"/>
            <a:ext cx="507492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6446520" y="23820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Confusion Matrix (Test Set)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6446520" y="2656332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True Positives: ~472    True Negatives: ~269</a:t>
            </a:r>
            <a:endParaRPr sz="1300"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False Positives: ~118   False Negatives: ~141</a:t>
            </a:r>
            <a:endParaRPr sz="1300"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Captures 77.0% of actual disruptions</a:t>
            </a:r>
            <a:endParaRPr sz="1300" dirty="0"/>
          </a:p>
        </p:txBody>
      </p:sp>
      <p:sp>
        <p:nvSpPr>
          <p:cNvPr id="328" name="Google Shape;328;p9"/>
          <p:cNvSpPr/>
          <p:nvPr/>
        </p:nvSpPr>
        <p:spPr>
          <a:xfrm>
            <a:off x="6309360" y="4434840"/>
            <a:ext cx="507492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6446520" y="450799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Learning Curve</a:t>
            </a:r>
            <a:endParaRPr/>
          </a:p>
        </p:txBody>
      </p:sp>
      <p:sp>
        <p:nvSpPr>
          <p:cNvPr id="330" name="Google Shape;330;p9"/>
          <p:cNvSpPr txBox="1"/>
          <p:nvPr/>
        </p:nvSpPr>
        <p:spPr>
          <a:xfrm>
            <a:off x="6446520" y="4782312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Training and validation scores converge</a:t>
            </a:r>
            <a:endParaRPr sz="1300"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Confirms moderate </a:t>
            </a:r>
            <a:r>
              <a:rPr lang="en-US" sz="1300" b="0" i="0" u="none" strike="noStrike" cap="none" dirty="0" err="1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generalisation</a:t>
            </a:r>
            <a:endParaRPr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Feature Importance &amp; SHAP Analysis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Understanding what drives predictions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795527" y="1371600"/>
            <a:ext cx="10867083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E8EB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978408" y="14813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Top 8 Feature Importances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0223D0-FCEF-2C43-F639-6BF782FDA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574329"/>
              </p:ext>
            </p:extLst>
          </p:nvPr>
        </p:nvGraphicFramePr>
        <p:xfrm>
          <a:off x="978409" y="1865377"/>
          <a:ext cx="10418065" cy="3756494"/>
        </p:xfrm>
        <a:graphic>
          <a:graphicData uri="http://schemas.openxmlformats.org/drawingml/2006/table">
            <a:tbl>
              <a:tblPr/>
              <a:tblGrid>
                <a:gridCol w="920746">
                  <a:extLst>
                    <a:ext uri="{9D8B030D-6E8A-4147-A177-3AD203B41FA5}">
                      <a16:colId xmlns:a16="http://schemas.microsoft.com/office/drawing/2014/main" val="3033053321"/>
                    </a:ext>
                  </a:extLst>
                </a:gridCol>
                <a:gridCol w="2557627">
                  <a:extLst>
                    <a:ext uri="{9D8B030D-6E8A-4147-A177-3AD203B41FA5}">
                      <a16:colId xmlns:a16="http://schemas.microsoft.com/office/drawing/2014/main" val="3238059907"/>
                    </a:ext>
                  </a:extLst>
                </a:gridCol>
                <a:gridCol w="1466372">
                  <a:extLst>
                    <a:ext uri="{9D8B030D-6E8A-4147-A177-3AD203B41FA5}">
                      <a16:colId xmlns:a16="http://schemas.microsoft.com/office/drawing/2014/main" val="719891198"/>
                    </a:ext>
                  </a:extLst>
                </a:gridCol>
                <a:gridCol w="5473320">
                  <a:extLst>
                    <a:ext uri="{9D8B030D-6E8A-4147-A177-3AD203B41FA5}">
                      <a16:colId xmlns:a16="http://schemas.microsoft.com/office/drawing/2014/main" val="483207751"/>
                    </a:ext>
                  </a:extLst>
                </a:gridCol>
              </a:tblGrid>
              <a:tr h="3174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  <a:endParaRPr lang="en-CA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  <a:endParaRPr lang="en-CA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Importance</a:t>
                      </a:r>
                      <a:endParaRPr lang="en-CA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Interpretation</a:t>
                      </a:r>
                      <a:endParaRPr lang="en-CA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144803"/>
                  </a:ext>
                </a:extLst>
              </a:tr>
              <a:tr h="38358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Weather_Condition_Hurricane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25.3%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Bad weather negatively impacts travel conditions</a:t>
                      </a:r>
                      <a:endParaRPr lang="en-US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523605"/>
                  </a:ext>
                </a:extLst>
              </a:tr>
              <a:tr h="38358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Weather_Condition_Storm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Bad weather negatively impacts travel conditions</a:t>
                      </a:r>
                      <a:endParaRPr lang="en-US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532199"/>
                  </a:ext>
                </a:extLst>
              </a:tr>
              <a:tr h="56876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Geopolitical_Risk_Score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Routes at geopolitical risk are more likely to experience disruption</a:t>
                      </a:r>
                      <a:endParaRPr lang="en-US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757724"/>
                  </a:ext>
                </a:extLst>
              </a:tr>
              <a:tr h="38358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CA" sz="1200" dirty="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Weather_Condition_Fog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Bad weather negatively impacts travel conditions</a:t>
                      </a:r>
                      <a:endParaRPr lang="en-US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707756"/>
                  </a:ext>
                </a:extLst>
              </a:tr>
              <a:tr h="38358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Distance_per_Day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Longer routes = more risk exposure</a:t>
                      </a:r>
                      <a:endParaRPr lang="en-US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377752"/>
                  </a:ext>
                </a:extLst>
              </a:tr>
              <a:tr h="38358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Origin_Port_Los Angeles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Might be due to the quality of the airport or the weather in the region</a:t>
                      </a:r>
                      <a:endParaRPr lang="en-US" sz="1200" dirty="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803689"/>
                  </a:ext>
                </a:extLst>
              </a:tr>
              <a:tr h="56876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Transport_Mode_Sea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Greater exposure and transit windows making sea route riskier</a:t>
                      </a:r>
                      <a:endParaRPr lang="en-US" sz="120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420669"/>
                  </a:ext>
                </a:extLst>
              </a:tr>
              <a:tr h="38358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Carrier_Reliability_Score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2.4%</a:t>
                      </a:r>
                      <a:endParaRPr lang="en-CA" sz="1200">
                        <a:effectLst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Unreliable carriers compound risk</a:t>
                      </a:r>
                      <a:endParaRPr lang="en-CA" sz="1200" dirty="0">
                        <a:effectLst/>
                      </a:endParaRPr>
                    </a:p>
                  </a:txBody>
                  <a:tcPr marL="63500" marR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45807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EEDF3DF-E467-9EFF-A3CC-14D67A51D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2255838"/>
            <a:ext cx="2396696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73152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Conclusions &amp; Recommendations</a:t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731520" y="713232"/>
            <a:ext cx="109728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Supply Chain Disruptions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6858000" y="64465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795528" y="1280160"/>
            <a:ext cx="50749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932688" y="13533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387" name="Google Shape;387;p11"/>
          <p:cNvSpPr txBox="1"/>
          <p:nvPr/>
        </p:nvSpPr>
        <p:spPr>
          <a:xfrm>
            <a:off x="932688" y="1627632"/>
            <a:ext cx="4800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25000"/>
              </a:lnSpc>
            </a:pPr>
            <a:endParaRPr lang="en-US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Weather conditions, geopolitical risk, and distance per day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are the most important contributing factors to disruptions</a:t>
            </a:r>
            <a:endParaRPr lang="en-US"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0" i="0" u="none" strike="noStrike" cap="none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Logistic Regression achieves best recall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(0.770) and AUC (0.818) among six classifiers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5000"/>
              </a:lnSpc>
              <a:spcBef>
                <a:spcPts val="400"/>
              </a:spcBef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Model </a:t>
            </a:r>
            <a:r>
              <a:rPr lang="en-US" dirty="0" err="1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generalises</a:t>
            </a:r>
            <a:r>
              <a:rPr lang="en-US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well with minimal</a:t>
            </a:r>
            <a:endParaRPr lang="en-US" dirty="0"/>
          </a:p>
          <a:p>
            <a:pPr lvl="0">
              <a:lnSpc>
                <a:spcPct val="125000"/>
              </a:lnSpc>
              <a:spcBef>
                <a:spcPts val="40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overfitting (training/validation convergence)</a:t>
            </a:r>
            <a:endParaRPr lang="en-US"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-CA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-&gt; </a:t>
            </a:r>
            <a:r>
              <a:rPr lang="fr-CA" dirty="0" err="1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r>
              <a:rPr lang="fr-CA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fr-CA" dirty="0" err="1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r>
              <a:rPr lang="fr-CA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dirty="0"/>
          </a:p>
        </p:txBody>
      </p:sp>
      <p:sp>
        <p:nvSpPr>
          <p:cNvPr id="388" name="Google Shape;388;p11"/>
          <p:cNvSpPr/>
          <p:nvPr/>
        </p:nvSpPr>
        <p:spPr>
          <a:xfrm>
            <a:off x="6309360" y="1280160"/>
            <a:ext cx="507492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6446520" y="135331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Business Recommendations</a:t>
            </a:r>
            <a:endParaRPr/>
          </a:p>
        </p:txBody>
      </p:sp>
      <p:sp>
        <p:nvSpPr>
          <p:cNvPr id="390" name="Google Shape;390;p11"/>
          <p:cNvSpPr txBox="1"/>
          <p:nvPr/>
        </p:nvSpPr>
        <p:spPr>
          <a:xfrm>
            <a:off x="6446520" y="1602927"/>
            <a:ext cx="48006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1. Set minimum Carrier Reliability thresholds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(&gt;0.75) on high-risk routes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2. Implement real-time weather monitoring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with pre-emptive rerouting protocols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3. Review shipping schedules where transit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speed exceeds historical norms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4. Route Perishables &amp; Pharmaceuticals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through top-tier carriers exclusively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5. Deploy model in TMS/ERP systems for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automated risk screening at booking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029200" y="3017520"/>
            <a:ext cx="210312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399" name="Google Shape;399;p12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· Caspar · Lea · Ghezlan · Fouad</a:t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Machine Learning II — MBDS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Microsoft Office PowerPoint</Application>
  <PresentationFormat>Widescreen</PresentationFormat>
  <Paragraphs>313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Lea Sarouphim Hochar</cp:lastModifiedBy>
  <cp:revision>1</cp:revision>
  <dcterms:created xsi:type="dcterms:W3CDTF">2013-01-27T09:14:16Z</dcterms:created>
  <dcterms:modified xsi:type="dcterms:W3CDTF">2026-03-22T20:02:31Z</dcterms:modified>
</cp:coreProperties>
</file>